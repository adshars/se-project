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4630400" cy="8229600"/>
  <p:notesSz cx="8229600" cy="14630400"/>
  <p:embeddedFontLst>
    <p:embeddedFont>
      <p:font typeface="Dela Gothic One"/>
      <p:regular r:id="rId21"/>
    </p:embeddedFont>
    <p:embeddedFont>
      <p:font typeface="Dela Gothic One"/>
      <p:regular r:id="rId22"/>
    </p:embeddedFont>
    <p:embeddedFont>
      <p:font typeface="DM Sans"/>
      <p:regular r:id="rId23"/>
    </p:embeddedFont>
    <p:embeddedFont>
      <p:font typeface="DM Sans"/>
      <p:regular r:id="rId24"/>
    </p:embeddedFont>
    <p:embeddedFont>
      <p:font typeface="DM Sans"/>
      <p:regular r:id="rId25"/>
    </p:embeddedFont>
    <p:embeddedFont>
      <p:font typeface="DM Sans"/>
      <p:regular r:id="rId26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openxmlformats.org/officeDocument/2006/relationships/font" Target="fonts/font1.fntdata"/><Relationship Id="rId22" Type="http://schemas.openxmlformats.org/officeDocument/2006/relationships/font" Target="fonts/font2.fntdata"/><Relationship Id="rId23" Type="http://schemas.openxmlformats.org/officeDocument/2006/relationships/font" Target="fonts/font3.fntdata"/><Relationship Id="rId24" Type="http://schemas.openxmlformats.org/officeDocument/2006/relationships/font" Target="fonts/font4.fntdata"/><Relationship Id="rId25" Type="http://schemas.openxmlformats.org/officeDocument/2006/relationships/font" Target="fonts/font5.fntdata"/><Relationship Id="rId26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2" Type="http://schemas.openxmlformats.org/officeDocument/2006/relationships/image" Target="../media/image-1011-2.png"/><Relationship Id="rId4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2-1.png"/><Relationship Id="rId2" Type="http://schemas.openxmlformats.org/officeDocument/2006/relationships/image" Target="../media/image-1012-2.png"/><Relationship Id="rId4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3-1.png"/><Relationship Id="rId2" Type="http://schemas.openxmlformats.org/officeDocument/2006/relationships/image" Target="../media/image-1013-2.png"/><Relationship Id="rId4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4-1.png"/><Relationship Id="rId2" Type="http://schemas.openxmlformats.org/officeDocument/2006/relationships/image" Target="../media/image-1014-2.png"/><Relationship Id="rId4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5-1.png"/><Relationship Id="rId2" Type="http://schemas.openxmlformats.org/officeDocument/2006/relationships/image" Target="../media/image-1015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5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0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3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5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2241352"/>
            <a:ext cx="7627382" cy="2138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Skuteczność JavaScript w Mikroserwisach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58309" y="4704398"/>
            <a:ext cx="762738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Prezentacja o wykorzystaniu JavaScript i Node.js w architekturze mikroserwisowej. Omówimy korzyści, frameworki i skalowalność.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758309" y="5641538"/>
            <a:ext cx="76273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Autorzy: Adam Węglewski, Patryk Tarmasewicz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7081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4014192"/>
            <a:ext cx="8032313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Czym są Mikroserwisy?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58309" y="5051822"/>
            <a:ext cx="131137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758309" y="5642253"/>
            <a:ext cx="4226838" cy="1281232"/>
          </a:xfrm>
          <a:prstGeom prst="roundRect">
            <a:avLst>
              <a:gd name="adj" fmla="val 7102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82504" y="5866448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Mała jednostka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982504" y="6352580"/>
            <a:ext cx="3778448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Wykonuje jedno zadanie.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5201722" y="5642253"/>
            <a:ext cx="4226838" cy="1281232"/>
          </a:xfrm>
          <a:prstGeom prst="roundRect">
            <a:avLst>
              <a:gd name="adj" fmla="val 7102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25916" y="5866448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Niezależność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5425916" y="6352580"/>
            <a:ext cx="3778448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Działa samodzielnie.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9645134" y="5642253"/>
            <a:ext cx="4226838" cy="1281232"/>
          </a:xfrm>
          <a:prstGeom prst="roundRect">
            <a:avLst>
              <a:gd name="adj" fmla="val 7102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869329" y="5866448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Komunikacja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9869329" y="6352580"/>
            <a:ext cx="3778448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Przez API (REST, gRPC).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4709" y="1820704"/>
            <a:ext cx="7383661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Cechy Mikroserwisów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44709" y="2858333"/>
            <a:ext cx="76273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6244709" y="3448764"/>
            <a:ext cx="76273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6244709" y="4282916"/>
            <a:ext cx="487442" cy="487442"/>
          </a:xfrm>
          <a:prstGeom prst="roundRect">
            <a:avLst>
              <a:gd name="adj" fmla="val 18669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948726" y="4282916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Niezależność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948726" y="4769048"/>
            <a:ext cx="3001447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Osobne wdrażanie.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10166747" y="4282916"/>
            <a:ext cx="487442" cy="487442"/>
          </a:xfrm>
          <a:prstGeom prst="roundRect">
            <a:avLst>
              <a:gd name="adj" fmla="val 18669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870763" y="4282916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Własna logika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0870763" y="4769048"/>
            <a:ext cx="3001447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Baza danych.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6244709" y="5576054"/>
            <a:ext cx="487442" cy="487442"/>
          </a:xfrm>
          <a:prstGeom prst="roundRect">
            <a:avLst>
              <a:gd name="adj" fmla="val 18669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948726" y="5576054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Komunikacja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6948726" y="6062186"/>
            <a:ext cx="6923365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Kontrola API.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4709" y="853559"/>
            <a:ext cx="7627382" cy="142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Dlaczego Mikroserwisy?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44709" y="2603897"/>
            <a:ext cx="76273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6244709" y="3194328"/>
            <a:ext cx="76273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endParaRPr lang="en-US" sz="17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4709" y="3784759"/>
            <a:ext cx="541615" cy="54161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44709" y="4542949"/>
            <a:ext cx="2325767" cy="71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Skalowalność</a:t>
            </a:r>
            <a:endParaRPr lang="en-US" sz="22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5398" y="3784759"/>
            <a:ext cx="541615" cy="54161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895398" y="4542949"/>
            <a:ext cx="2325886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Niezależność</a:t>
            </a:r>
            <a:endParaRPr lang="en-US" sz="22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46205" y="3784759"/>
            <a:ext cx="541615" cy="54161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1546205" y="4542949"/>
            <a:ext cx="2325767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Utrzymanie</a:t>
            </a:r>
            <a:endParaRPr lang="en-US" sz="220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4709" y="5905381"/>
            <a:ext cx="541615" cy="541615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6244709" y="6663571"/>
            <a:ext cx="2325767" cy="71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Praca zespołów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2015014"/>
            <a:ext cx="6859667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JavaScript i Node.js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58309" y="3160990"/>
            <a:ext cx="131137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JavaScript jest dynamiczny i wszechstronny. Node.js to środowisko uruchomieniowe po stronie serwera.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58309" y="3751421"/>
            <a:ext cx="131137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Korzyści dla mikroserwisów: jeden język, ekosystem npm, wydajność.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58309" y="4558427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JavaScript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58309" y="5131237"/>
            <a:ext cx="629257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Dynamiczny język.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58309" y="5672852"/>
            <a:ext cx="629257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Popularny na świecie.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587139" y="4558427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Node.js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587139" y="5131237"/>
            <a:ext cx="629257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Silnik V8.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587139" y="5672852"/>
            <a:ext cx="629257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Asynchroniczny model.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1566029"/>
            <a:ext cx="7627382" cy="142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Node.js do Mikroserwisów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58309" y="3316367"/>
            <a:ext cx="76273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758309" y="3906798"/>
            <a:ext cx="76273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JSON jest obsługiwany natywnie. Używany jeden język w całym stacku.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758309" y="4740950"/>
            <a:ext cx="487442" cy="487442"/>
          </a:xfrm>
          <a:prstGeom prst="roundRect">
            <a:avLst>
              <a:gd name="adj" fmla="val 18669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997" y="4770894"/>
            <a:ext cx="342067" cy="42755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62326" y="4740950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Szybkość</a:t>
            </a:r>
            <a:endParaRPr lang="en-US" sz="2200" dirty="0"/>
          </a:p>
        </p:txBody>
      </p:sp>
      <p:sp>
        <p:nvSpPr>
          <p:cNvPr id="9" name="Shape 5"/>
          <p:cNvSpPr/>
          <p:nvPr/>
        </p:nvSpPr>
        <p:spPr>
          <a:xfrm>
            <a:off x="4680347" y="4740950"/>
            <a:ext cx="487442" cy="487442"/>
          </a:xfrm>
          <a:prstGeom prst="roundRect">
            <a:avLst>
              <a:gd name="adj" fmla="val 18669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3035" y="4770894"/>
            <a:ext cx="342067" cy="42755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384363" y="4740950"/>
            <a:ext cx="2892266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Non-blocking I/O</a:t>
            </a:r>
            <a:endParaRPr lang="en-US" sz="2200" dirty="0"/>
          </a:p>
        </p:txBody>
      </p:sp>
      <p:sp>
        <p:nvSpPr>
          <p:cNvPr id="12" name="Shape 7"/>
          <p:cNvSpPr/>
          <p:nvPr/>
        </p:nvSpPr>
        <p:spPr>
          <a:xfrm>
            <a:off x="758309" y="5932408"/>
            <a:ext cx="487442" cy="487442"/>
          </a:xfrm>
          <a:prstGeom prst="roundRect">
            <a:avLst>
              <a:gd name="adj" fmla="val 18669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997" y="5962352"/>
            <a:ext cx="342067" cy="42755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462326" y="5932408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Ekosystem npm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2285881"/>
            <a:ext cx="10439757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Frameworki dla Mikroserwisów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58309" y="3431857"/>
            <a:ext cx="131137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58309" y="4022288"/>
            <a:ext cx="131137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58309" y="4829294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Express.js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58309" y="5402104"/>
            <a:ext cx="2881908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Minimalistyczny.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176474" y="4829294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NestJS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176474" y="5402104"/>
            <a:ext cx="2881908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Oparty na TypeScript.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594640" y="4829294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Fastify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594640" y="5402104"/>
            <a:ext cx="2881908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Szybki.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1012805" y="4829294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Moleculer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1012805" y="5402104"/>
            <a:ext cx="2881908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Dla mikroserwisów.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4709" y="701754"/>
            <a:ext cx="7627382" cy="142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Przykład Mikroserwisu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44709" y="2452092"/>
            <a:ext cx="762738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Przykładowy kod mikroserwisu w Express.js. Pokazuje prostotę i łatwość tworzenia API.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6244709" y="3389233"/>
            <a:ext cx="7627382" cy="4138613"/>
          </a:xfrm>
          <a:prstGeom prst="roundRect">
            <a:avLst>
              <a:gd name="adj" fmla="val 2199"/>
            </a:avLst>
          </a:prstGeom>
          <a:solidFill>
            <a:srgbClr val="460707"/>
          </a:solidFill>
          <a:ln/>
        </p:spPr>
      </p:sp>
      <p:sp>
        <p:nvSpPr>
          <p:cNvPr id="6" name="Shape 3"/>
          <p:cNvSpPr/>
          <p:nvPr/>
        </p:nvSpPr>
        <p:spPr>
          <a:xfrm>
            <a:off x="6233993" y="3389233"/>
            <a:ext cx="7648813" cy="4138613"/>
          </a:xfrm>
          <a:prstGeom prst="roundRect">
            <a:avLst>
              <a:gd name="adj" fmla="val 785"/>
            </a:avLst>
          </a:prstGeom>
          <a:solidFill>
            <a:srgbClr val="460707"/>
          </a:solidFill>
          <a:ln/>
        </p:spPr>
      </p:sp>
      <p:sp>
        <p:nvSpPr>
          <p:cNvPr id="7" name="Text 4"/>
          <p:cNvSpPr/>
          <p:nvPr/>
        </p:nvSpPr>
        <p:spPr>
          <a:xfrm>
            <a:off x="6450568" y="3551634"/>
            <a:ext cx="7215664" cy="3813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highlight>
                  <a:srgbClr val="4607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const express = require('express')</a:t>
            </a:r>
            <a:endParaRPr lang="en-US" sz="1700" dirty="0"/>
          </a:p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highlight>
                  <a:srgbClr val="4607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const app = express()</a:t>
            </a:r>
            <a:endParaRPr lang="en-US" sz="1700" dirty="0"/>
          </a:p>
          <a:p>
            <a:pPr algn="l" indent="0" marL="0">
              <a:lnSpc>
                <a:spcPts val="2700"/>
              </a:lnSpc>
              <a:buNone/>
            </a:pPr>
            <a:endParaRPr lang="en-US" sz="1700" dirty="0"/>
          </a:p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highlight>
                  <a:srgbClr val="4607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app.get('/', (req, res) =&gt; {</a:t>
            </a:r>
            <a:endParaRPr lang="en-US" sz="1700" dirty="0"/>
          </a:p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highlight>
                  <a:srgbClr val="4607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res.send('Hello World!')</a:t>
            </a:r>
            <a:endParaRPr lang="en-US" sz="1700" dirty="0"/>
          </a:p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highlight>
                  <a:srgbClr val="4607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})</a:t>
            </a:r>
            <a:endParaRPr lang="en-US" sz="1700" dirty="0"/>
          </a:p>
          <a:p>
            <a:pPr algn="l" indent="0" marL="0">
              <a:lnSpc>
                <a:spcPts val="2700"/>
              </a:lnSpc>
              <a:buNone/>
            </a:pPr>
            <a:endParaRPr lang="en-US" sz="1700" dirty="0"/>
          </a:p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highlight>
                  <a:srgbClr val="4607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app.listen(3000, () =&gt; {</a:t>
            </a:r>
            <a:endParaRPr lang="en-US" sz="1700" dirty="0"/>
          </a:p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highlight>
                  <a:srgbClr val="4607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console.log('Example app listening')</a:t>
            </a:r>
            <a:endParaRPr lang="en-US" sz="1700" dirty="0"/>
          </a:p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highlight>
                  <a:srgbClr val="4607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})</a:t>
            </a:r>
            <a:endParaRPr lang="en-US" sz="1700" dirty="0"/>
          </a:p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highlight>
                  <a:srgbClr val="4607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5808" y="586502"/>
            <a:ext cx="5608082" cy="700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Komunikacja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745808" y="1606987"/>
            <a:ext cx="7652385" cy="681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Mikroserwisy komunikują się przez REST API i GraphQL. Używają RabbitMQ i Kafka.</a:t>
            </a:r>
            <a:endParaRPr lang="en-US" sz="16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808" y="2528649"/>
            <a:ext cx="1065490" cy="127861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130862" y="2741652"/>
            <a:ext cx="2804041" cy="350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REST API</a:t>
            </a:r>
            <a:endParaRPr lang="en-US" sz="22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808" y="3807262"/>
            <a:ext cx="1065490" cy="127861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130862" y="4020264"/>
            <a:ext cx="2804041" cy="350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GraphQL</a:t>
            </a:r>
            <a:endParaRPr lang="en-US" sz="22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808" y="5085874"/>
            <a:ext cx="1065490" cy="1278612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2130862" y="5298877"/>
            <a:ext cx="2804041" cy="350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RabbitMQ</a:t>
            </a:r>
            <a:endParaRPr lang="en-US" sz="220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808" y="6364486"/>
            <a:ext cx="1065490" cy="1278612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2130862" y="6577489"/>
            <a:ext cx="2804041" cy="350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Kafka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1665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2876550"/>
            <a:ext cx="6327219" cy="57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Skalowalność w Node.js</a:t>
            </a:r>
            <a:endParaRPr lang="en-US" sz="3550" dirty="0"/>
          </a:p>
        </p:txBody>
      </p:sp>
      <p:sp>
        <p:nvSpPr>
          <p:cNvPr id="4" name="Shape 1"/>
          <p:cNvSpPr/>
          <p:nvPr/>
        </p:nvSpPr>
        <p:spPr>
          <a:xfrm>
            <a:off x="7303770" y="3706535"/>
            <a:ext cx="22860" cy="3813096"/>
          </a:xfrm>
          <a:prstGeom prst="roundRect">
            <a:avLst>
              <a:gd name="adj" fmla="val 318454"/>
            </a:avLst>
          </a:prstGeom>
          <a:solidFill>
            <a:srgbClr val="8D2424"/>
          </a:solidFill>
          <a:ln/>
        </p:spPr>
      </p:sp>
      <p:sp>
        <p:nvSpPr>
          <p:cNvPr id="5" name="Shape 2"/>
          <p:cNvSpPr/>
          <p:nvPr/>
        </p:nvSpPr>
        <p:spPr>
          <a:xfrm>
            <a:off x="6623149" y="4084915"/>
            <a:ext cx="519946" cy="22860"/>
          </a:xfrm>
          <a:prstGeom prst="roundRect">
            <a:avLst>
              <a:gd name="adj" fmla="val 318454"/>
            </a:avLst>
          </a:prstGeom>
          <a:solidFill>
            <a:srgbClr val="8D2424"/>
          </a:solidFill>
          <a:ln/>
        </p:spPr>
      </p:sp>
      <p:sp>
        <p:nvSpPr>
          <p:cNvPr id="6" name="Shape 3"/>
          <p:cNvSpPr/>
          <p:nvPr/>
        </p:nvSpPr>
        <p:spPr>
          <a:xfrm>
            <a:off x="7120235" y="3901440"/>
            <a:ext cx="389930" cy="389930"/>
          </a:xfrm>
          <a:prstGeom prst="roundRect">
            <a:avLst>
              <a:gd name="adj" fmla="val 18670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338" y="3925312"/>
            <a:ext cx="273606" cy="34206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68021" y="3879771"/>
            <a:ext cx="2280642" cy="285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Event loop</a:t>
            </a:r>
            <a:endParaRPr lang="en-US" sz="1750" dirty="0"/>
          </a:p>
        </p:txBody>
      </p:sp>
      <p:sp>
        <p:nvSpPr>
          <p:cNvPr id="9" name="Text 5"/>
          <p:cNvSpPr/>
          <p:nvPr/>
        </p:nvSpPr>
        <p:spPr>
          <a:xfrm>
            <a:off x="758309" y="4268867"/>
            <a:ext cx="5690354" cy="277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Wykorzystanie pojedynczego wątku i asynchroniczności.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7487305" y="4951452"/>
            <a:ext cx="519946" cy="22860"/>
          </a:xfrm>
          <a:prstGeom prst="roundRect">
            <a:avLst>
              <a:gd name="adj" fmla="val 318454"/>
            </a:avLst>
          </a:prstGeom>
          <a:solidFill>
            <a:srgbClr val="8D2424"/>
          </a:solidFill>
          <a:ln/>
        </p:spPr>
      </p:sp>
      <p:sp>
        <p:nvSpPr>
          <p:cNvPr id="11" name="Shape 7"/>
          <p:cNvSpPr/>
          <p:nvPr/>
        </p:nvSpPr>
        <p:spPr>
          <a:xfrm>
            <a:off x="7120235" y="4767977"/>
            <a:ext cx="389930" cy="389930"/>
          </a:xfrm>
          <a:prstGeom prst="roundRect">
            <a:avLst>
              <a:gd name="adj" fmla="val 18670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338" y="4791849"/>
            <a:ext cx="273606" cy="34206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181737" y="4746308"/>
            <a:ext cx="2280642" cy="285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Klastry</a:t>
            </a:r>
            <a:endParaRPr lang="en-US" sz="1750" dirty="0"/>
          </a:p>
        </p:txBody>
      </p:sp>
      <p:sp>
        <p:nvSpPr>
          <p:cNvPr id="14" name="Text 9"/>
          <p:cNvSpPr/>
          <p:nvPr/>
        </p:nvSpPr>
        <p:spPr>
          <a:xfrm>
            <a:off x="8181737" y="5135404"/>
            <a:ext cx="5690354" cy="554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Uruchamianie wielu instancji Node.js do wykorzystania wszystkich rdzeni CPU.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6623149" y="5731312"/>
            <a:ext cx="519946" cy="22860"/>
          </a:xfrm>
          <a:prstGeom prst="roundRect">
            <a:avLst>
              <a:gd name="adj" fmla="val 318454"/>
            </a:avLst>
          </a:prstGeom>
          <a:solidFill>
            <a:srgbClr val="8D2424"/>
          </a:solidFill>
          <a:ln/>
        </p:spPr>
      </p:sp>
      <p:sp>
        <p:nvSpPr>
          <p:cNvPr id="16" name="Shape 11"/>
          <p:cNvSpPr/>
          <p:nvPr/>
        </p:nvSpPr>
        <p:spPr>
          <a:xfrm>
            <a:off x="7120235" y="5547836"/>
            <a:ext cx="389930" cy="389930"/>
          </a:xfrm>
          <a:prstGeom prst="roundRect">
            <a:avLst>
              <a:gd name="adj" fmla="val 18670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8338" y="5571708"/>
            <a:ext cx="273606" cy="342067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168021" y="5526167"/>
            <a:ext cx="2280642" cy="285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Docker</a:t>
            </a:r>
            <a:endParaRPr lang="en-US" sz="1750" dirty="0"/>
          </a:p>
        </p:txBody>
      </p:sp>
      <p:sp>
        <p:nvSpPr>
          <p:cNvPr id="19" name="Text 13"/>
          <p:cNvSpPr/>
          <p:nvPr/>
        </p:nvSpPr>
        <p:spPr>
          <a:xfrm>
            <a:off x="758309" y="5915263"/>
            <a:ext cx="5690354" cy="277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Konteneryzacja aplikacji dla łatwiejszego wdrażania i skalowania.</a:t>
            </a:r>
            <a:endParaRPr lang="en-US" sz="1350" dirty="0"/>
          </a:p>
        </p:txBody>
      </p:sp>
      <p:sp>
        <p:nvSpPr>
          <p:cNvPr id="20" name="Shape 14"/>
          <p:cNvSpPr/>
          <p:nvPr/>
        </p:nvSpPr>
        <p:spPr>
          <a:xfrm>
            <a:off x="7487305" y="6511290"/>
            <a:ext cx="519946" cy="22860"/>
          </a:xfrm>
          <a:prstGeom prst="roundRect">
            <a:avLst>
              <a:gd name="adj" fmla="val 318454"/>
            </a:avLst>
          </a:prstGeom>
          <a:solidFill>
            <a:srgbClr val="8D2424"/>
          </a:solidFill>
          <a:ln/>
        </p:spPr>
      </p:sp>
      <p:sp>
        <p:nvSpPr>
          <p:cNvPr id="21" name="Shape 15"/>
          <p:cNvSpPr/>
          <p:nvPr/>
        </p:nvSpPr>
        <p:spPr>
          <a:xfrm>
            <a:off x="7120235" y="6327815"/>
            <a:ext cx="389930" cy="389930"/>
          </a:xfrm>
          <a:prstGeom prst="roundRect">
            <a:avLst>
              <a:gd name="adj" fmla="val 18670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8338" y="6351687"/>
            <a:ext cx="273606" cy="342067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8181737" y="6306145"/>
            <a:ext cx="2280642" cy="285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Chmura</a:t>
            </a:r>
            <a:endParaRPr lang="en-US" sz="1750" dirty="0"/>
          </a:p>
        </p:txBody>
      </p:sp>
      <p:sp>
        <p:nvSpPr>
          <p:cNvPr id="24" name="Text 17"/>
          <p:cNvSpPr/>
          <p:nvPr/>
        </p:nvSpPr>
        <p:spPr>
          <a:xfrm>
            <a:off x="8181737" y="6695242"/>
            <a:ext cx="5690354" cy="554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Wykorzystanie platform chmurowych (AWS, Azure, Google Cloud) do automatycznego skalowania.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593771"/>
            <a:ext cx="13113782" cy="142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Wydajność: Node.js vs. Java/Spring vs. Python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58309" y="3560683"/>
            <a:ext cx="3477816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Node.js (JavaScript)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58309" y="4133493"/>
            <a:ext cx="4018359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Wysoka wydajność dzięki V8 i non-blocking I/O. Idealny do aplikacji czasu rzeczywistego.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58309" y="5368528"/>
            <a:ext cx="4018359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Szybki czas reakcji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58309" y="5790962"/>
            <a:ext cx="4018359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Skalowalność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58309" y="6213396"/>
            <a:ext cx="4018359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Efektywność w I/O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312926" y="3560683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Java / Spring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312926" y="4133493"/>
            <a:ext cx="4018359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Solidny i skalowalny, ale wolniejszy w I/O. Dobry do złożonych aplikacji biznesowych.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312926" y="5368528"/>
            <a:ext cx="4018359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Wysoka niezawodność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312926" y="5790962"/>
            <a:ext cx="4018359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Duży ekosystem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312926" y="6213396"/>
            <a:ext cx="4018359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Zarządzanie transakcjami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867543" y="3560683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Python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867543" y="4133493"/>
            <a:ext cx="4018359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Łatwy w użyciu, ale wolniejszy. Dobry do analizy danych i skryptów, mniej do mikroserwisów.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9867543" y="5368528"/>
            <a:ext cx="4018359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Prosty kod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9867543" y="5790962"/>
            <a:ext cx="4018359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Szybki rozwój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9867543" y="6213396"/>
            <a:ext cx="4018359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Biblioteki danych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2651998"/>
            <a:ext cx="6526173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Wyzwania w Node.js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58309" y="4041696"/>
            <a:ext cx="487442" cy="487442"/>
          </a:xfrm>
          <a:prstGeom prst="roundRect">
            <a:avLst>
              <a:gd name="adj" fmla="val 18669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0997" y="4071640"/>
            <a:ext cx="342067" cy="42755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2326" y="4041696"/>
            <a:ext cx="2967038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CPU-bound Taski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462326" y="4527828"/>
            <a:ext cx="3522821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Intensywne zadania blokują event loop. Użyj worker threads do obliczeń.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201722" y="4041696"/>
            <a:ext cx="487442" cy="487442"/>
          </a:xfrm>
          <a:prstGeom prst="roundRect">
            <a:avLst>
              <a:gd name="adj" fmla="val 18669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4409" y="4071640"/>
            <a:ext cx="342067" cy="42755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905738" y="4041696"/>
            <a:ext cx="3374350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Debugowanie Async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5905738" y="4527828"/>
            <a:ext cx="3522821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Trudne śledzenie błędów. Narzędzia async/await ułatwiają debugowanie.</a:t>
            </a:r>
            <a:endParaRPr lang="en-US" sz="1700" dirty="0"/>
          </a:p>
        </p:txBody>
      </p:sp>
      <p:sp>
        <p:nvSpPr>
          <p:cNvPr id="11" name="Shape 7"/>
          <p:cNvSpPr/>
          <p:nvPr/>
        </p:nvSpPr>
        <p:spPr>
          <a:xfrm>
            <a:off x="9645134" y="4041696"/>
            <a:ext cx="487442" cy="487442"/>
          </a:xfrm>
          <a:prstGeom prst="roundRect">
            <a:avLst>
              <a:gd name="adj" fmla="val 18669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7822" y="4071640"/>
            <a:ext cx="342067" cy="42755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349151" y="4041696"/>
            <a:ext cx="3522821" cy="71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Zarządzanie Zależnościami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10349151" y="4884063"/>
            <a:ext cx="3522821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Duża liczba pakietów. Używaj npm i yarn do zarządzania.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653897"/>
            <a:ext cx="13113782" cy="142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Przykłady Użycia JavaScript w Mikroserwisach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58309" y="3756303"/>
            <a:ext cx="487442" cy="487442"/>
          </a:xfrm>
          <a:prstGeom prst="roundRect">
            <a:avLst>
              <a:gd name="adj" fmla="val 18669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30997" y="3786247"/>
            <a:ext cx="342067" cy="427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1</a:t>
            </a:r>
            <a:endParaRPr lang="en-US" sz="2650" dirty="0"/>
          </a:p>
        </p:txBody>
      </p:sp>
      <p:sp>
        <p:nvSpPr>
          <p:cNvPr id="5" name="Text 3"/>
          <p:cNvSpPr/>
          <p:nvPr/>
        </p:nvSpPr>
        <p:spPr>
          <a:xfrm>
            <a:off x="1462326" y="3756303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Netflix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62326" y="4242435"/>
            <a:ext cx="5744647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Używa Node.js do warstwy prezentacji i routingu. Skalowalność i szybkość są kluczowe.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423547" y="3756303"/>
            <a:ext cx="487442" cy="487442"/>
          </a:xfrm>
          <a:prstGeom prst="roundRect">
            <a:avLst>
              <a:gd name="adj" fmla="val 18669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6235" y="3786247"/>
            <a:ext cx="342067" cy="427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2</a:t>
            </a:r>
            <a:endParaRPr lang="en-US" sz="2650" dirty="0"/>
          </a:p>
        </p:txBody>
      </p:sp>
      <p:sp>
        <p:nvSpPr>
          <p:cNvPr id="9" name="Text 7"/>
          <p:cNvSpPr/>
          <p:nvPr/>
        </p:nvSpPr>
        <p:spPr>
          <a:xfrm>
            <a:off x="8127563" y="3756303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PayPal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127563" y="4242435"/>
            <a:ext cx="5744647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Przeszedł na Node.js, aby zwiększyć wydajność. Znacząco skrócono czas odpowiedzi.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58309" y="5396151"/>
            <a:ext cx="487442" cy="487442"/>
          </a:xfrm>
          <a:prstGeom prst="roundRect">
            <a:avLst>
              <a:gd name="adj" fmla="val 18669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0997" y="5426095"/>
            <a:ext cx="342067" cy="427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3</a:t>
            </a:r>
            <a:endParaRPr lang="en-US" sz="2650" dirty="0"/>
          </a:p>
        </p:txBody>
      </p:sp>
      <p:sp>
        <p:nvSpPr>
          <p:cNvPr id="13" name="Text 11"/>
          <p:cNvSpPr/>
          <p:nvPr/>
        </p:nvSpPr>
        <p:spPr>
          <a:xfrm>
            <a:off x="1462326" y="5396151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Uber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462326" y="5882283"/>
            <a:ext cx="5744647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Wykorzystuje Node.js do obsługi kluczowych usług. Szybkie iteracje i wdrażanie.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423547" y="5396151"/>
            <a:ext cx="487442" cy="487442"/>
          </a:xfrm>
          <a:prstGeom prst="roundRect">
            <a:avLst>
              <a:gd name="adj" fmla="val 18669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6235" y="5426095"/>
            <a:ext cx="342067" cy="427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4</a:t>
            </a:r>
            <a:endParaRPr lang="en-US" sz="2650" dirty="0"/>
          </a:p>
        </p:txBody>
      </p:sp>
      <p:sp>
        <p:nvSpPr>
          <p:cNvPr id="17" name="Text 15"/>
          <p:cNvSpPr/>
          <p:nvPr/>
        </p:nvSpPr>
        <p:spPr>
          <a:xfrm>
            <a:off x="8127563" y="5396151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LinkedIn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127563" y="5882283"/>
            <a:ext cx="5744647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Zastosował Node.js do optymalizacji mobilnej. Zwiększono responsywność aplikacji.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1591032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Podsumowanie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58309" y="2628662"/>
            <a:ext cx="762738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Node.js w mikroserwisach to efektywne rozwiązanie. Zapewnia szybkość i skalowalność. Idealne do nowoczesnych aplikacji.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758309" y="3809524"/>
            <a:ext cx="487442" cy="487442"/>
          </a:xfrm>
          <a:prstGeom prst="roundRect">
            <a:avLst>
              <a:gd name="adj" fmla="val 18669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30997" y="3839468"/>
            <a:ext cx="342067" cy="427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1</a:t>
            </a:r>
            <a:endParaRPr lang="en-US" sz="2650" dirty="0"/>
          </a:p>
        </p:txBody>
      </p:sp>
      <p:sp>
        <p:nvSpPr>
          <p:cNvPr id="7" name="Text 4"/>
          <p:cNvSpPr/>
          <p:nvPr/>
        </p:nvSpPr>
        <p:spPr>
          <a:xfrm>
            <a:off x="1462326" y="3809524"/>
            <a:ext cx="3001447" cy="71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Wysoka wydajność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462326" y="4651891"/>
            <a:ext cx="3001447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Dzięki V8 i architekturze non-blocking I/O.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4680347" y="3809524"/>
            <a:ext cx="487442" cy="487442"/>
          </a:xfrm>
          <a:prstGeom prst="roundRect">
            <a:avLst>
              <a:gd name="adj" fmla="val 18669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753035" y="3839468"/>
            <a:ext cx="342067" cy="427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2</a:t>
            </a:r>
            <a:endParaRPr lang="en-US" sz="2650" dirty="0"/>
          </a:p>
        </p:txBody>
      </p:sp>
      <p:sp>
        <p:nvSpPr>
          <p:cNvPr id="11" name="Text 8"/>
          <p:cNvSpPr/>
          <p:nvPr/>
        </p:nvSpPr>
        <p:spPr>
          <a:xfrm>
            <a:off x="5384363" y="3809524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Skalowalność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5384363" y="4295656"/>
            <a:ext cx="3001447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Możliwość obsługi dużego ruchu i obciążenia.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758309" y="5805607"/>
            <a:ext cx="487442" cy="487442"/>
          </a:xfrm>
          <a:prstGeom prst="roundRect">
            <a:avLst>
              <a:gd name="adj" fmla="val 18669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30997" y="5835551"/>
            <a:ext cx="342067" cy="427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3</a:t>
            </a:r>
            <a:endParaRPr lang="en-US" sz="2650" dirty="0"/>
          </a:p>
        </p:txBody>
      </p:sp>
      <p:sp>
        <p:nvSpPr>
          <p:cNvPr id="15" name="Text 12"/>
          <p:cNvSpPr/>
          <p:nvPr/>
        </p:nvSpPr>
        <p:spPr>
          <a:xfrm>
            <a:off x="1462326" y="5805607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Elastyczność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1462326" y="6291739"/>
            <a:ext cx="6923365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Łatwość integracji z innymi technologiami.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2025-03-29T08:05:24Z</dcterms:created>
  <dcterms:modified xsi:type="dcterms:W3CDTF">2025-03-29T08:05:24Z</dcterms:modified>
</cp:coreProperties>
</file>